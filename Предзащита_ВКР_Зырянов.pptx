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  <p:sldId id="265" r:id="rId11"/>
  </p:sldIdLst>
  <p:sldSz cx="6858000" cy="51435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6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11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0D1D-8413-7220-578C-106164BF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6E3BD-65A0-EB68-D4D1-553B0A0FD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32CB8-AE7F-4538-E7CB-48171D27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69254-4D24-7E4F-5543-38315C054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5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41772"/>
            <a:ext cx="58293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701528"/>
            <a:ext cx="51435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954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1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82305"/>
            <a:ext cx="5915025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442099"/>
            <a:ext cx="5915025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7760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69219"/>
            <a:ext cx="291465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69219"/>
            <a:ext cx="291465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4209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73845"/>
            <a:ext cx="5915025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60872"/>
            <a:ext cx="2901255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78806"/>
            <a:ext cx="2901255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60872"/>
            <a:ext cx="2915543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78806"/>
            <a:ext cx="2915543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959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926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3549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40570"/>
            <a:ext cx="3471863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4513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42900"/>
            <a:ext cx="2211884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40570"/>
            <a:ext cx="3471863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43050"/>
            <a:ext cx="2211884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080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0142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73844"/>
            <a:ext cx="1478756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73844"/>
            <a:ext cx="4350544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68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28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73845"/>
            <a:ext cx="5915025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69219"/>
            <a:ext cx="591502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767264"/>
            <a:ext cx="23145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767264"/>
            <a:ext cx="1543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3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10640" y="-750627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617720" y="2546102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518161" y="766039"/>
            <a:ext cx="6426820" cy="1982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Разработка веб-приложения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обучения с использованием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интервальных повторений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8960" y="2884113"/>
            <a:ext cx="1371600" cy="45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66122" y="3267844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err="1">
                <a:solidFill>
                  <a:srgbClr val="94A3B8"/>
                </a:solidFill>
              </a:rPr>
              <a:t>Вы</a:t>
            </a:r>
            <a:r>
              <a:rPr lang="ru-RU" sz="1200" dirty="0">
                <a:solidFill>
                  <a:srgbClr val="94A3B8"/>
                </a:solidFill>
              </a:rPr>
              <a:t>полнил</a:t>
            </a:r>
            <a:endParaRPr lang="en-US" sz="1200" dirty="0"/>
          </a:p>
          <a:p>
            <a:r>
              <a:rPr lang="en-US" sz="1200" b="1" dirty="0">
                <a:solidFill>
                  <a:srgbClr val="FFFFFF"/>
                </a:solidFill>
              </a:rPr>
              <a:t>Зырянов Эдуард Алексеевич</a:t>
            </a:r>
            <a:endParaRPr lang="en-US" sz="1200" dirty="0"/>
          </a:p>
          <a:p>
            <a:r>
              <a:rPr lang="en-US" sz="1200" dirty="0" err="1">
                <a:solidFill>
                  <a:srgbClr val="94A3B8"/>
                </a:solidFill>
              </a:rPr>
              <a:t>Группа</a:t>
            </a:r>
            <a:r>
              <a:rPr lang="en-US" sz="1200" dirty="0">
                <a:solidFill>
                  <a:srgbClr val="94A3B8"/>
                </a:solidFill>
              </a:rPr>
              <a:t> Б-ИВТ-22-1</a:t>
            </a:r>
            <a:endParaRPr lang="ru-RU" sz="1200" dirty="0">
              <a:solidFill>
                <a:srgbClr val="94A3B8"/>
              </a:solidFill>
            </a:endParaRPr>
          </a:p>
          <a:p>
            <a:r>
              <a:rPr lang="en-US" sz="1200" dirty="0" err="1">
                <a:solidFill>
                  <a:srgbClr val="94A3B8"/>
                </a:solidFill>
              </a:rPr>
              <a:t>Научный</a:t>
            </a:r>
            <a:r>
              <a:rPr lang="en-US" sz="1200" dirty="0">
                <a:solidFill>
                  <a:srgbClr val="94A3B8"/>
                </a:solidFill>
              </a:rPr>
              <a:t> руководитель: Качалин Н.Н., старший преподаватель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122" y="45011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4A3B8"/>
                </a:solidFill>
              </a:rPr>
              <a:t>СВФУ · ИМИ · Кафедра «Информационные технологии»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">
            <a:extLst>
              <a:ext uri="{FF2B5EF4-FFF2-40B4-BE49-F238E27FC236}">
                <a16:creationId xmlns:a16="http://schemas.microsoft.com/office/drawing/2014/main" id="{30672AC8-867A-8DB8-4853-949A90118CDA}"/>
              </a:ext>
            </a:extLst>
          </p:cNvPr>
          <p:cNvSpPr/>
          <p:nvPr/>
        </p:nvSpPr>
        <p:spPr>
          <a:xfrm>
            <a:off x="3652522" y="2853081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C594A0E4-A2AF-18F3-22FC-591850B4DA5F}"/>
              </a:ext>
            </a:extLst>
          </p:cNvPr>
          <p:cNvSpPr/>
          <p:nvPr/>
        </p:nvSpPr>
        <p:spPr>
          <a:xfrm>
            <a:off x="3651254" y="2853081"/>
            <a:ext cx="60960" cy="122491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3B115F98-2317-1933-64BA-18EAE1C0014C}"/>
              </a:ext>
            </a:extLst>
          </p:cNvPr>
          <p:cNvSpPr/>
          <p:nvPr/>
        </p:nvSpPr>
        <p:spPr>
          <a:xfrm>
            <a:off x="508004" y="2853081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84FE54B7-B91A-AB0D-F233-62E1C62A4389}"/>
              </a:ext>
            </a:extLst>
          </p:cNvPr>
          <p:cNvSpPr/>
          <p:nvPr/>
        </p:nvSpPr>
        <p:spPr>
          <a:xfrm>
            <a:off x="502926" y="2853082"/>
            <a:ext cx="60960" cy="122491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2033F394-0CE3-6710-B365-B240AA6FF7AD}"/>
              </a:ext>
            </a:extLst>
          </p:cNvPr>
          <p:cNvSpPr/>
          <p:nvPr/>
        </p:nvSpPr>
        <p:spPr>
          <a:xfrm>
            <a:off x="3657600" y="1282714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518160" y="3429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и актуальность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3238" y="1282713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518160" y="1282714"/>
            <a:ext cx="60960" cy="122491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23" y="1460545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5827" y="134297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информации забывается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2963" y="1540541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через 24 часа </a:t>
            </a:r>
            <a:r>
              <a:rPr lang="en-US" sz="1000" dirty="0" err="1">
                <a:solidFill>
                  <a:srgbClr val="475569"/>
                </a:solidFill>
              </a:rPr>
              <a:t>без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повторения</a:t>
            </a:r>
            <a:r>
              <a:rPr lang="ru-RU" sz="1000" dirty="0">
                <a:solidFill>
                  <a:srgbClr val="475569"/>
                </a:solidFill>
              </a:rPr>
              <a:t> </a:t>
            </a:r>
          </a:p>
          <a:p>
            <a:r>
              <a:rPr lang="ru-RU" sz="1000" dirty="0">
                <a:solidFill>
                  <a:srgbClr val="475569"/>
                </a:solidFill>
              </a:rPr>
              <a:t>(</a:t>
            </a:r>
            <a:r>
              <a:rPr lang="en-US" sz="1000" dirty="0" err="1">
                <a:solidFill>
                  <a:srgbClr val="475569"/>
                </a:solidFill>
              </a:rPr>
              <a:t>Эббингауз</a:t>
            </a:r>
            <a:r>
              <a:rPr lang="en-US" sz="1000" dirty="0">
                <a:solidFill>
                  <a:srgbClr val="475569"/>
                </a:solidFill>
              </a:rPr>
              <a:t>, 1885)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517" y="1460545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0313" y="134483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персонализации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310313" y="15461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традиционные методы не учитывают индивидуальные особенности памяти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23" y="2990241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68043" y="2898801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ретенция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68043" y="319707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студенты забывают материал сразу после экзамена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6777" y="2990241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10313" y="289329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доступных решений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310313" y="3206803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Anki — сложный, Quizlet — платный, </a:t>
            </a:r>
            <a:endParaRPr lang="ru-RU" sz="1000" dirty="0">
              <a:solidFill>
                <a:srgbClr val="475569"/>
              </a:solidFill>
            </a:endParaRPr>
          </a:p>
          <a:p>
            <a:r>
              <a:rPr lang="en-US" sz="1000" dirty="0" err="1">
                <a:solidFill>
                  <a:srgbClr val="475569"/>
                </a:solidFill>
              </a:rPr>
              <a:t>SuperMemo</a:t>
            </a:r>
            <a:r>
              <a:rPr lang="en-US" sz="1000" dirty="0">
                <a:solidFill>
                  <a:srgbClr val="475569"/>
                </a:solidFill>
              </a:rPr>
              <a:t> — только Windows</a:t>
            </a:r>
            <a:endParaRPr lang="en-US" sz="10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3F0E58F9-C2CD-2C48-8653-CD387C692D1A}"/>
              </a:ext>
            </a:extLst>
          </p:cNvPr>
          <p:cNvSpPr/>
          <p:nvPr/>
        </p:nvSpPr>
        <p:spPr>
          <a:xfrm>
            <a:off x="3656332" y="1282714"/>
            <a:ext cx="60960" cy="122491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6343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17863" y="1047205"/>
            <a:ext cx="630936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33251" y="1059833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6366F1"/>
                </a:solidFill>
              </a:rPr>
              <a:t>Цель: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3251" y="1425593"/>
            <a:ext cx="670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Разработать функциональное веб-приложение на основе алгоритма SM-2 для повышения эффективности долгосрочного запоминания учебного материала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346524"/>
            <a:ext cx="292608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14963" y="248716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3934" y="2474976"/>
            <a:ext cx="221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Анализ теории памяти и алгоритмов SRS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3106783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657600" y="24414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2423160"/>
            <a:ext cx="2282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Сравнение аналогов (Anki, Quizlet, SuperMemo)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7862" y="3246120"/>
            <a:ext cx="2928257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14963" y="3358461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1411" y="3285309"/>
            <a:ext cx="21575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Проектирование архитектуры (UML, ER, API)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246120"/>
            <a:ext cx="3106783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657600" y="33558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0520" y="3337560"/>
            <a:ext cx="2282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Реализация: Django + React + PostgreSQL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7862" y="4160520"/>
            <a:ext cx="2928257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14963" y="42702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3934" y="4233672"/>
            <a:ext cx="22150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FFFFFF"/>
                </a:solidFill>
              </a:rPr>
              <a:t>Тестирование</a:t>
            </a:r>
            <a:r>
              <a:rPr lang="ru-RU" sz="1300" dirty="0">
                <a:solidFill>
                  <a:srgbClr val="FFFFFF"/>
                </a:solidFill>
              </a:rPr>
              <a:t> веб-приложения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4160520"/>
            <a:ext cx="3106783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657600" y="4270248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4251960"/>
            <a:ext cx="2282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</a:rPr>
              <a:t>Апробация со студентами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074" y="320040"/>
            <a:ext cx="60568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Алгоритм SM-2 — ядро системы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1074" y="1051560"/>
            <a:ext cx="6056812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22514" y="1097280"/>
            <a:ext cx="5904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EF' = EF + (0.1 − (5 − q) × (0.08 + (5 − q) × 0.02))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I(1) = 1 день   ·   I(2) = 6 дней   ·   I(n) = I(n−1) × EF   ·   EF ≥ 1.3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074" y="2377440"/>
            <a:ext cx="64269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293B"/>
                </a:solidFill>
              </a:rPr>
              <a:t>Пример: карточка «Что такое ACID?» при оценке q = 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074" y="2919549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31074" y="2987041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1-е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074" y="3261361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7D2FE"/>
                </a:solidFill>
              </a:rPr>
              <a:t>день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799" y="3337560"/>
            <a:ext cx="1142999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286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</a:rPr>
              <a:t>+1 дн.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56954" y="2919547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756954" y="3010987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2-е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56954" y="3285307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7D2FE"/>
                </a:solidFill>
              </a:rPr>
              <a:t>день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337560"/>
            <a:ext cx="7772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1619794" y="387966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</a:rPr>
              <a:t>+6 дн.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92608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06324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3-е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291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7D2FE"/>
                </a:solidFill>
              </a:rPr>
              <a:t>день 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86200" y="3337560"/>
            <a:ext cx="7772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292608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</a:rPr>
              <a:t>+15 дн.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292608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29768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4-е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3291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7D2FE"/>
                </a:solidFill>
              </a:rPr>
              <a:t>день 23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4754907" y="3331027"/>
            <a:ext cx="899768" cy="6531"/>
          </a:xfrm>
          <a:prstGeom prst="line">
            <a:avLst/>
          </a:prstGeom>
          <a:noFill/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16052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</a:rPr>
              <a:t>+38 дн.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292608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6235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5-е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3291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7D2FE"/>
                </a:solidFill>
              </a:rPr>
              <a:t>день 61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475569"/>
                </a:solidFill>
              </a:rPr>
              <a:t>+95 дн.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1074" y="4260670"/>
            <a:ext cx="6056812" cy="64008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00891" y="4306390"/>
            <a:ext cx="58869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366F1"/>
                </a:solidFill>
              </a:rPr>
              <a:t>Мета-анализ Cepeda et al. (2006): 839 измерений из 317 экспериментов подтверждают эффективность интервальных повторений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0040"/>
            <a:ext cx="619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с существующими решениями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563109"/>
              </p:ext>
            </p:extLst>
          </p:nvPr>
        </p:nvGraphicFramePr>
        <p:xfrm>
          <a:off x="381000" y="1268730"/>
          <a:ext cx="6197599" cy="2606040"/>
        </p:xfrm>
        <a:graphic>
          <a:graphicData uri="http://schemas.openxmlformats.org/drawingml/2006/table">
            <a:tbl>
              <a:tblPr/>
              <a:tblGrid>
                <a:gridCol w="1328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4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Критерий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Anki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Quizlet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SuperMemo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SpaceLearn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Сложность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Высокая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Низкая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Очень высокая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Низкая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Алгоритм SRS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SM-2 (мод.)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Собственный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SM-17/18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SM-2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Бесплатность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Да*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Freemium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Платно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Полностью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Веб-версия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Ограничена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Русский UI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Частично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Частично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Полностью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Установка ПО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Да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Нет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81000" y="4206240"/>
            <a:ext cx="619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6366F1"/>
                </a:solidFill>
              </a:rPr>
              <a:t>SpaceLearn сочетает научно обоснованный алгоритм SM-2 с простым интерфейсом и полной бесплатностью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1">
            <a:extLst>
              <a:ext uri="{FF2B5EF4-FFF2-40B4-BE49-F238E27FC236}">
                <a16:creationId xmlns:a16="http://schemas.microsoft.com/office/drawing/2014/main" id="{93C5C55D-243C-A5E2-0268-2F8518EB4F64}"/>
              </a:ext>
            </a:extLst>
          </p:cNvPr>
          <p:cNvSpPr/>
          <p:nvPr/>
        </p:nvSpPr>
        <p:spPr>
          <a:xfrm>
            <a:off x="2601807" y="1184486"/>
            <a:ext cx="169164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6446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приложения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69164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27" y="1366943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927" y="2011075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1527" y="243361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React 18 + TypeScript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4A3B8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310128"/>
            <a:ext cx="169164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371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62716" y="201498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40030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Django 5.0 + DRF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4A3B8"/>
                </a:solidFill>
              </a:rPr>
              <a:t>Алгоритм SM-2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601807" y="3310128"/>
            <a:ext cx="169164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4709160" y="1188719"/>
            <a:ext cx="173736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3716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89120" y="201498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16630" y="2403601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PostgreSQL 15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94A3B8"/>
                </a:solidFill>
              </a:rPr>
              <a:t>ACID-транзакции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09160" y="3324182"/>
            <a:ext cx="1737360" cy="45719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 flipH="1">
            <a:off x="2148839" y="2286000"/>
            <a:ext cx="452967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2144606" y="22468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4A3B8"/>
                </a:solidFill>
              </a:rPr>
              <a:t>REST</a:t>
            </a:r>
            <a:endParaRPr lang="en-US" sz="900" dirty="0"/>
          </a:p>
          <a:p>
            <a:pPr algn="ctr"/>
            <a:r>
              <a:rPr lang="en-US" sz="900" dirty="0">
                <a:solidFill>
                  <a:srgbClr val="94A3B8"/>
                </a:solidFill>
              </a:rPr>
              <a:t>API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93447" y="2286000"/>
            <a:ext cx="415713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4282438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4A3B8"/>
                </a:solidFill>
              </a:rPr>
              <a:t>ORM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119049" y="3951012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4" name="Text 19"/>
          <p:cNvSpPr/>
          <p:nvPr/>
        </p:nvSpPr>
        <p:spPr>
          <a:xfrm>
            <a:off x="1119049" y="39510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317083" y="3943858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2317083" y="394385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Django 5.0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73630" y="3943858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3473630" y="394385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React 18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616630" y="3932470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/>
          <p:nvPr/>
        </p:nvSpPr>
        <p:spPr>
          <a:xfrm>
            <a:off x="4616630" y="393247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TypeScript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913804" y="4446025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2913804" y="4446025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PostgreSQL 15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736936" y="4446025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4" name="Text 29"/>
          <p:cNvSpPr/>
          <p:nvPr/>
        </p:nvSpPr>
        <p:spPr>
          <a:xfrm>
            <a:off x="1736936" y="4446025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JWT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083894" y="4446025"/>
            <a:ext cx="10515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1"/>
          <p:cNvSpPr/>
          <p:nvPr/>
        </p:nvSpPr>
        <p:spPr>
          <a:xfrm>
            <a:off x="4083894" y="4446025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06B6D4"/>
                </a:solidFill>
              </a:rPr>
              <a:t>Tailwind CSS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F3DD8-7F4B-A6AE-1C1C-095C59E4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">
            <a:extLst>
              <a:ext uri="{FF2B5EF4-FFF2-40B4-BE49-F238E27FC236}">
                <a16:creationId xmlns:a16="http://schemas.microsoft.com/office/drawing/2014/main" id="{650AB309-3D37-59BB-6FDA-6CA944D675D9}"/>
              </a:ext>
            </a:extLst>
          </p:cNvPr>
          <p:cNvSpPr/>
          <p:nvPr/>
        </p:nvSpPr>
        <p:spPr>
          <a:xfrm>
            <a:off x="3652522" y="2822304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15A78E81-5BA8-AEFD-06B9-C349958A1278}"/>
              </a:ext>
            </a:extLst>
          </p:cNvPr>
          <p:cNvSpPr/>
          <p:nvPr/>
        </p:nvSpPr>
        <p:spPr>
          <a:xfrm>
            <a:off x="508004" y="2853081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F9044707-33C4-8450-0D1F-BCB28D04A55D}"/>
              </a:ext>
            </a:extLst>
          </p:cNvPr>
          <p:cNvSpPr/>
          <p:nvPr/>
        </p:nvSpPr>
        <p:spPr>
          <a:xfrm>
            <a:off x="3657600" y="1282714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0CC357B-D861-9B0F-8273-31DDBDE82E25}"/>
              </a:ext>
            </a:extLst>
          </p:cNvPr>
          <p:cNvSpPr/>
          <p:nvPr/>
        </p:nvSpPr>
        <p:spPr>
          <a:xfrm>
            <a:off x="518160" y="3429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Обоснование</a:t>
            </a: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выбора</a:t>
            </a: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технологий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A0BDEC-BEBD-FD7A-9CAA-F4EB631C7496}"/>
              </a:ext>
            </a:extLst>
          </p:cNvPr>
          <p:cNvSpPr/>
          <p:nvPr/>
        </p:nvSpPr>
        <p:spPr>
          <a:xfrm>
            <a:off x="523238" y="1282713"/>
            <a:ext cx="3002280" cy="122491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32389E8-FB76-3137-5048-6BD5F281C2B9}"/>
              </a:ext>
            </a:extLst>
          </p:cNvPr>
          <p:cNvSpPr/>
          <p:nvPr/>
        </p:nvSpPr>
        <p:spPr>
          <a:xfrm>
            <a:off x="1125827" y="134297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0A3DB5-E1EA-E020-8A52-2A1E0E7BAEE8}"/>
              </a:ext>
            </a:extLst>
          </p:cNvPr>
          <p:cNvSpPr/>
          <p:nvPr/>
        </p:nvSpPr>
        <p:spPr>
          <a:xfrm>
            <a:off x="1132963" y="1540541"/>
            <a:ext cx="21773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ORM, </a:t>
            </a:r>
            <a:r>
              <a:rPr lang="en-US" sz="1000" dirty="0" err="1">
                <a:solidFill>
                  <a:srgbClr val="475569"/>
                </a:solidFill>
              </a:rPr>
              <a:t>аутентификация</a:t>
            </a:r>
            <a:r>
              <a:rPr lang="en-US" sz="1000" dirty="0">
                <a:solidFill>
                  <a:srgbClr val="475569"/>
                </a:solidFill>
              </a:rPr>
              <a:t>, </a:t>
            </a:r>
            <a:r>
              <a:rPr lang="en-US" sz="1000" dirty="0" err="1">
                <a:solidFill>
                  <a:srgbClr val="475569"/>
                </a:solidFill>
              </a:rPr>
              <a:t>миграции</a:t>
            </a:r>
            <a:r>
              <a:rPr lang="en-US" sz="1000" dirty="0">
                <a:solidFill>
                  <a:srgbClr val="475569"/>
                </a:solidFill>
              </a:rPr>
              <a:t>, </a:t>
            </a:r>
            <a:r>
              <a:rPr lang="en-US" sz="1000" dirty="0" err="1">
                <a:solidFill>
                  <a:srgbClr val="475569"/>
                </a:solidFill>
              </a:rPr>
              <a:t>админка</a:t>
            </a:r>
            <a:r>
              <a:rPr lang="en-US" sz="1000" dirty="0">
                <a:solidFill>
                  <a:srgbClr val="475569"/>
                </a:solidFill>
              </a:rPr>
              <a:t>, </a:t>
            </a:r>
            <a:r>
              <a:rPr lang="en-US" sz="1000" dirty="0" err="1">
                <a:solidFill>
                  <a:srgbClr val="475569"/>
                </a:solidFill>
              </a:rPr>
              <a:t>защита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от</a:t>
            </a:r>
            <a:r>
              <a:rPr lang="en-US" sz="1000" dirty="0">
                <a:solidFill>
                  <a:srgbClr val="475569"/>
                </a:solidFill>
              </a:rPr>
              <a:t> OWASP Top 10 — </a:t>
            </a:r>
            <a:r>
              <a:rPr lang="en-US" sz="1000" dirty="0" err="1">
                <a:solidFill>
                  <a:srgbClr val="475569"/>
                </a:solidFill>
              </a:rPr>
              <a:t>всё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из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коробки</a:t>
            </a:r>
            <a:r>
              <a:rPr lang="en-US" sz="1000" dirty="0">
                <a:solidFill>
                  <a:srgbClr val="475569"/>
                </a:solidFill>
              </a:rPr>
              <a:t>. 19 </a:t>
            </a:r>
            <a:r>
              <a:rPr lang="en-US" sz="1000" dirty="0" err="1">
                <a:solidFill>
                  <a:srgbClr val="475569"/>
                </a:solidFill>
              </a:rPr>
              <a:t>лет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зрелости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FD2E57A-8A64-8DAF-ECA8-DF5C87307212}"/>
              </a:ext>
            </a:extLst>
          </p:cNvPr>
          <p:cNvSpPr/>
          <p:nvPr/>
        </p:nvSpPr>
        <p:spPr>
          <a:xfrm>
            <a:off x="4310313" y="134483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4BFC03A-6294-C19A-11F5-08402FE06FF2}"/>
              </a:ext>
            </a:extLst>
          </p:cNvPr>
          <p:cNvSpPr/>
          <p:nvPr/>
        </p:nvSpPr>
        <p:spPr>
          <a:xfrm>
            <a:off x="4310313" y="1546196"/>
            <a:ext cx="2183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475569"/>
                </a:solidFill>
              </a:rPr>
              <a:t>Компонентный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подход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для</a:t>
            </a:r>
            <a:r>
              <a:rPr lang="en-US" sz="1000" dirty="0">
                <a:solidFill>
                  <a:srgbClr val="475569"/>
                </a:solidFill>
              </a:rPr>
              <a:t> SRS-</a:t>
            </a:r>
            <a:r>
              <a:rPr lang="en-US" sz="1000" dirty="0" err="1">
                <a:solidFill>
                  <a:srgbClr val="475569"/>
                </a:solidFill>
              </a:rPr>
              <a:t>интерфейса</a:t>
            </a:r>
            <a:r>
              <a:rPr lang="en-US" sz="1000" dirty="0">
                <a:solidFill>
                  <a:srgbClr val="475569"/>
                </a:solidFill>
              </a:rPr>
              <a:t>. ~40% </a:t>
            </a:r>
            <a:r>
              <a:rPr lang="en-US" sz="1000" dirty="0" err="1">
                <a:solidFill>
                  <a:srgbClr val="475569"/>
                </a:solidFill>
              </a:rPr>
              <a:t>рынка</a:t>
            </a:r>
            <a:r>
              <a:rPr lang="en-US" sz="1000" dirty="0">
                <a:solidFill>
                  <a:srgbClr val="475569"/>
                </a:solidFill>
              </a:rPr>
              <a:t>, 220K+ </a:t>
            </a:r>
            <a:r>
              <a:rPr lang="en-US" sz="1000" dirty="0" err="1">
                <a:solidFill>
                  <a:srgbClr val="475569"/>
                </a:solidFill>
              </a:rPr>
              <a:t>npm-пакетов</a:t>
            </a:r>
            <a:r>
              <a:rPr lang="en-US" sz="1000" dirty="0">
                <a:solidFill>
                  <a:srgbClr val="475569"/>
                </a:solidFill>
              </a:rPr>
              <a:t>. TypeScript </a:t>
            </a:r>
            <a:r>
              <a:rPr lang="en-US" sz="1000" dirty="0" err="1">
                <a:solidFill>
                  <a:srgbClr val="475569"/>
                </a:solidFill>
              </a:rPr>
              <a:t>для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надёжности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91552FD9-CED4-E845-9028-2EA86E63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23" y="2990241"/>
            <a:ext cx="365760" cy="36576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F72EFCCA-413A-55D1-C051-EC2DA72D3A03}"/>
              </a:ext>
            </a:extLst>
          </p:cNvPr>
          <p:cNvSpPr/>
          <p:nvPr/>
        </p:nvSpPr>
        <p:spPr>
          <a:xfrm>
            <a:off x="1168043" y="2898801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E8ECEE38-7AB9-5A78-6850-B9A8240C41E7}"/>
              </a:ext>
            </a:extLst>
          </p:cNvPr>
          <p:cNvSpPr/>
          <p:nvPr/>
        </p:nvSpPr>
        <p:spPr>
          <a:xfrm>
            <a:off x="1168043" y="3197070"/>
            <a:ext cx="22609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ACID-</a:t>
            </a:r>
            <a:r>
              <a:rPr lang="en-US" sz="1000" dirty="0" err="1">
                <a:solidFill>
                  <a:srgbClr val="475569"/>
                </a:solidFill>
              </a:rPr>
              <a:t>транзакции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для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целостности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ReviewLog</a:t>
            </a:r>
            <a:r>
              <a:rPr lang="en-US" sz="1000" dirty="0">
                <a:solidFill>
                  <a:srgbClr val="475569"/>
                </a:solidFill>
              </a:rPr>
              <a:t>. JSON, UUID, MVCC — </a:t>
            </a:r>
            <a:r>
              <a:rPr lang="en-US" sz="1000" dirty="0" err="1">
                <a:solidFill>
                  <a:srgbClr val="475569"/>
                </a:solidFill>
              </a:rPr>
              <a:t>рекомендация</a:t>
            </a:r>
            <a:r>
              <a:rPr lang="en-US" sz="1000" dirty="0">
                <a:solidFill>
                  <a:srgbClr val="475569"/>
                </a:solidFill>
              </a:rPr>
              <a:t> Django.</a:t>
            </a:r>
            <a:endParaRPr lang="en-US" sz="1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D1DC6DB-3305-A9BB-05F4-AE0A2E567A58}"/>
              </a:ext>
            </a:extLst>
          </p:cNvPr>
          <p:cNvSpPr/>
          <p:nvPr/>
        </p:nvSpPr>
        <p:spPr>
          <a:xfrm>
            <a:off x="4310313" y="289329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SM-2 </a:t>
            </a:r>
            <a:r>
              <a:rPr lang="en-US" sz="12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</a:t>
            </a:r>
            <a:endParaRPr lang="en-US" sz="12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A8F35A4-CA33-C3D0-767B-4D14138475FE}"/>
              </a:ext>
            </a:extLst>
          </p:cNvPr>
          <p:cNvSpPr/>
          <p:nvPr/>
        </p:nvSpPr>
        <p:spPr>
          <a:xfrm>
            <a:off x="4310313" y="3206803"/>
            <a:ext cx="21836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</a:rPr>
              <a:t>35+ </a:t>
            </a:r>
            <a:r>
              <a:rPr lang="en-US" sz="1000" dirty="0" err="1">
                <a:solidFill>
                  <a:srgbClr val="475569"/>
                </a:solidFill>
              </a:rPr>
              <a:t>лет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практики</a:t>
            </a:r>
            <a:r>
              <a:rPr lang="en-US" sz="1000" dirty="0">
                <a:solidFill>
                  <a:srgbClr val="475569"/>
                </a:solidFill>
              </a:rPr>
              <a:t>, </a:t>
            </a:r>
            <a:r>
              <a:rPr lang="en-US" sz="1000" dirty="0" err="1">
                <a:solidFill>
                  <a:srgbClr val="475569"/>
                </a:solidFill>
              </a:rPr>
              <a:t>основа</a:t>
            </a:r>
            <a:r>
              <a:rPr lang="en-US" sz="1000" dirty="0">
                <a:solidFill>
                  <a:srgbClr val="475569"/>
                </a:solidFill>
              </a:rPr>
              <a:t> Anki. </a:t>
            </a:r>
            <a:r>
              <a:rPr lang="en-US" sz="1000" dirty="0" err="1">
                <a:solidFill>
                  <a:srgbClr val="475569"/>
                </a:solidFill>
              </a:rPr>
              <a:t>Мета-анализ</a:t>
            </a:r>
            <a:r>
              <a:rPr lang="en-US" sz="1000" dirty="0">
                <a:solidFill>
                  <a:srgbClr val="475569"/>
                </a:solidFill>
              </a:rPr>
              <a:t> 317 </a:t>
            </a:r>
            <a:r>
              <a:rPr lang="en-US" sz="1000" dirty="0" err="1">
                <a:solidFill>
                  <a:srgbClr val="475569"/>
                </a:solidFill>
              </a:rPr>
              <a:t>экспериментов</a:t>
            </a:r>
            <a:r>
              <a:rPr lang="en-US" sz="1000" dirty="0">
                <a:solidFill>
                  <a:srgbClr val="475569"/>
                </a:solidFill>
              </a:rPr>
              <a:t>. </a:t>
            </a:r>
            <a:r>
              <a:rPr lang="en-US" sz="1000" dirty="0" err="1">
                <a:solidFill>
                  <a:srgbClr val="475569"/>
                </a:solidFill>
              </a:rPr>
              <a:t>Самокоррекция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при</a:t>
            </a:r>
            <a:r>
              <a:rPr lang="en-US" sz="1000" dirty="0">
                <a:solidFill>
                  <a:srgbClr val="475569"/>
                </a:solidFill>
              </a:rPr>
              <a:t> </a:t>
            </a:r>
            <a:r>
              <a:rPr lang="en-US" sz="1000" dirty="0" err="1">
                <a:solidFill>
                  <a:srgbClr val="475569"/>
                </a:solidFill>
              </a:rPr>
              <a:t>субъективности</a:t>
            </a:r>
            <a:r>
              <a:rPr lang="en-US" sz="1000" dirty="0">
                <a:solidFill>
                  <a:srgbClr val="475569"/>
                </a:solidFill>
              </a:rPr>
              <a:t>.</a:t>
            </a:r>
            <a:endParaRPr lang="en-US" sz="10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1E6F324-138D-7B25-EDCA-2E8C96092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41" y="1460545"/>
            <a:ext cx="365760" cy="365760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8D31AF7B-87C4-B6BC-8EC0-61ED4F6D7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987" y="1466517"/>
            <a:ext cx="365760" cy="365760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9E866C3D-28BA-E523-A907-8BCC49678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987" y="2990241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7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3534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354" y="29040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Практическая значимость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6354" y="1097280"/>
            <a:ext cx="6109546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651933" y="1097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6B6D4"/>
                </a:solidFill>
              </a:rPr>
              <a:t>80%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1097280"/>
            <a:ext cx="4965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Целевой коэффициент удержания материала при ежедневных занятиях 15 минут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6354" y="2057400"/>
            <a:ext cx="6109546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35000" y="2057400"/>
            <a:ext cx="838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6B6D4"/>
                </a:solidFill>
              </a:rPr>
              <a:t>50–70%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965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Сокращение времени на повторение по сравнению с традиционным заучиванием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6354" y="3017520"/>
            <a:ext cx="6109546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51933" y="3017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6B6D4"/>
                </a:solidFill>
              </a:rPr>
              <a:t>0 ₽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3017520"/>
            <a:ext cx="4965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Стоимость для студента — полностью бесплатный инструмент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6354" y="3977640"/>
            <a:ext cx="6109546" cy="777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35000" y="3977640"/>
            <a:ext cx="78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6B6D4"/>
                </a:solidFill>
              </a:rPr>
              <a:t>∞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3977640"/>
            <a:ext cx="4965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</a:rPr>
              <a:t>Масштабируемость — любой предмет, любой вуз, любое количество пользователей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06500" y="-1165860"/>
            <a:ext cx="3657600" cy="36576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4504267" y="2929467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8000" y="457200"/>
            <a:ext cx="6395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Результаты работы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8000" y="1280160"/>
            <a:ext cx="6002867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</a:rPr>
              <a:t>✓  Проведён анализ теории памяти и алгоритмов интервальных повторений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</a:rPr>
              <a:t>✓  Выполнено сравнение аналогов (Anki, Quizlet, SuperMemo, Memrise)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</a:rPr>
              <a:t>✓  Спроектирована архитектура: UML, ER-</a:t>
            </a:r>
            <a:r>
              <a:rPr lang="en-US" sz="1400" dirty="0" err="1">
                <a:solidFill>
                  <a:srgbClr val="FFFFFF"/>
                </a:solidFill>
              </a:rPr>
              <a:t>диаграмма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</a:rPr>
              <a:t>✓  </a:t>
            </a:r>
            <a:r>
              <a:rPr lang="en-US" sz="1400" dirty="0" err="1">
                <a:solidFill>
                  <a:srgbClr val="FFFFFF"/>
                </a:solidFill>
              </a:rPr>
              <a:t>Реализован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алгоритм</a:t>
            </a:r>
            <a:r>
              <a:rPr lang="en-US" sz="1400" dirty="0">
                <a:solidFill>
                  <a:srgbClr val="FFFFFF"/>
                </a:solidFill>
              </a:rPr>
              <a:t> SM-2 с </a:t>
            </a:r>
            <a:r>
              <a:rPr lang="en-US" sz="1400" dirty="0" err="1">
                <a:solidFill>
                  <a:srgbClr val="FFFFFF"/>
                </a:solidFill>
              </a:rPr>
              <a:t>формулой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пересчёта</a:t>
            </a:r>
            <a:r>
              <a:rPr lang="en-US" sz="1400" dirty="0">
                <a:solidFill>
                  <a:srgbClr val="FFFFFF"/>
                </a:solidFill>
              </a:rPr>
              <a:t> EF и </a:t>
            </a:r>
            <a:r>
              <a:rPr lang="en-US" sz="1400" dirty="0" err="1">
                <a:solidFill>
                  <a:srgbClr val="FFFFFF"/>
                </a:solidFill>
              </a:rPr>
              <a:t>расписанием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повторений</a:t>
            </a:r>
            <a:endParaRPr lang="ru-RU" sz="1400" dirty="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FFFFFF"/>
                </a:solidFill>
              </a:rPr>
              <a:t>✓  </a:t>
            </a:r>
            <a:r>
              <a:rPr lang="en-US" sz="1400" dirty="0" err="1">
                <a:solidFill>
                  <a:srgbClr val="FFFFFF"/>
                </a:solidFill>
              </a:rPr>
              <a:t>Реализовано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веб-приложение</a:t>
            </a:r>
            <a:r>
              <a:rPr lang="en-US" sz="1400" dirty="0">
                <a:solidFill>
                  <a:srgbClr val="FFFFFF"/>
                </a:solidFill>
              </a:rPr>
              <a:t>: Django + React + PostgreSQL</a:t>
            </a:r>
            <a:endParaRPr lang="ru-RU" sz="14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6858000" cy="45719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-411480" y="4709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94A3B8"/>
                </a:solidFill>
              </a:rPr>
              <a:t>Спасибо за внимание!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252</TotalTime>
  <Words>553</Words>
  <Application>Microsoft Office PowerPoint</Application>
  <PresentationFormat>Произвольный</PresentationFormat>
  <Paragraphs>145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Georgia</vt:lpstr>
      <vt:lpstr>Тема Office 2013–2022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Веб-приложение интервальных повторений</dc:title>
  <dc:subject>PptxGenJS Presentation</dc:subject>
  <dc:creator>Зырянов Э.А.</dc:creator>
  <cp:lastModifiedBy>Эдик Зырянов</cp:lastModifiedBy>
  <cp:revision>4</cp:revision>
  <dcterms:created xsi:type="dcterms:W3CDTF">2026-03-26T04:42:18Z</dcterms:created>
  <dcterms:modified xsi:type="dcterms:W3CDTF">2026-03-26T14:01:45Z</dcterms:modified>
</cp:coreProperties>
</file>